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4B4C4-8846-4B24-A7F1-4AA331BA9248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E7CD1-D611-4D7F-836B-BEF5A9AA93DB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1223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Aquí se debería detallar todo los referido a mi proyecto y describir el problema.</a:t>
            </a:r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E7CD1-D611-4D7F-836B-BEF5A9AA93DB}" type="slidenum">
              <a:rPr lang="es-BO" smtClean="0"/>
              <a:t>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5482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ED43-CD3B-611E-4F15-EFEC3428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FE6626-AC92-4048-0722-E82DAD566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2A076C-E919-1175-13F3-FFD32BE9E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Aquí se debería detallar todo los referido a mi proyecto y describir el problema.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275CAF-51A1-9D8F-3FA9-145E96E5F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E7CD1-D611-4D7F-836B-BEF5A9AA93DB}" type="slidenum">
              <a:rPr lang="es-BO" smtClean="0"/>
              <a:t>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97231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DA5ED-5E47-980A-0685-0AF871A7D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8BB743-0EAB-F8A4-C242-6C349EF66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3710E0-78E3-76BB-04DC-AED0CF1AA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Se recomienda primero describir los resultados importantes y luego justificar con alguna visualización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2D9A3C-2C36-92B0-C90F-9A92E79C3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E7CD1-D611-4D7F-836B-BEF5A9AA93DB}" type="slidenum">
              <a:rPr lang="es-BO" smtClean="0"/>
              <a:t>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93984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1E41-7C78-B556-B6DD-8F766339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757C62-C39F-E6B5-DB7C-48BBAF96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A7B162-8C22-2F99-B51B-A0AAC0DDB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Aquí se debería detallar todo los referido a mi proyecto y describir el problema.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A3ED9E-9F6D-7E1D-E0E0-851EC3C3A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E7CD1-D611-4D7F-836B-BEF5A9AA93DB}" type="slidenum">
              <a:rPr lang="es-BO" smtClean="0"/>
              <a:t>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89889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61757-EAC7-BC3E-08A6-E741E12E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DFE6E5-1F7D-BE16-90B7-F5C9F7152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024358-17C0-CEC2-F12D-8172F70BE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Aquí se debería detallar todo los referido a mi proyecto y describir el problema.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080E59-FBFC-A696-1441-CC69759F5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E7CD1-D611-4D7F-836B-BEF5A9AA93DB}" type="slidenum">
              <a:rPr lang="es-BO" smtClean="0"/>
              <a:t>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50151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2CCDA-E909-3674-ACE4-1E2B0037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430DF1-5A39-346D-6C64-A4D8B5CD2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772D08E-D688-1E17-59D5-10926904A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Aquí se debería detallar todo los referido a mi proyecto y describir el problema.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A12B9B-06BE-7C87-1F72-B7E185B17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E7CD1-D611-4D7F-836B-BEF5A9AA93DB}" type="slidenum">
              <a:rPr lang="es-BO" smtClean="0"/>
              <a:t>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01270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6AE4-2ED5-BA6C-EE96-0C2FBAA7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E07E11-7385-4731-EB7D-3F68FFA7F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9AB483-3FA8-081E-41A8-8170C3A54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Aquí se debería detallar todo los referido a mi proyecto y describir el problema.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340104-956E-B61F-AFE7-F031B6639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E7CD1-D611-4D7F-836B-BEF5A9AA93DB}" type="slidenum">
              <a:rPr lang="es-BO" smtClean="0"/>
              <a:t>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11926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2E9A-535F-E9FB-42E0-D4C7ABFD2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D8E0579-3D40-B151-CDC2-0C6853253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EE8950-5EB2-7DC7-E95D-A63DE8D18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- Aquí se debería detallar todo los referido a mi proyecto y describir el problema.</a:t>
            </a:r>
            <a:endParaRPr lang="es-B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3AA9D4-CC5C-7557-24A2-FED46C8C2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E7CD1-D611-4D7F-836B-BEF5A9AA93DB}" type="slidenum">
              <a:rPr lang="es-BO" smtClean="0"/>
              <a:t>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62837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1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6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1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0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4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62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53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8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0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6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1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32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AD0EC-6988-C0E0-B576-17DA979B42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3867F2-EE07-B753-B24A-6258E4C7A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s-ES" sz="3600" dirty="0"/>
              <a:t>Análisis </a:t>
            </a:r>
            <a:r>
              <a:rPr lang="es-ES" sz="3600" dirty="0" err="1"/>
              <a:t>ifood</a:t>
            </a:r>
            <a:endParaRPr lang="es-BO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5FB176-F1ED-FCCE-C897-EBAD18A7B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/>
          </a:bodyPr>
          <a:lstStyle/>
          <a:p>
            <a:pPr algn="r"/>
            <a:endParaRPr lang="es-BO" sz="1800" dirty="0"/>
          </a:p>
        </p:txBody>
      </p:sp>
    </p:spTree>
    <p:extLst>
      <p:ext uri="{BB962C8B-B14F-4D97-AF65-F5344CB8AC3E}">
        <p14:creationId xmlns:p14="http://schemas.microsoft.com/office/powerpoint/2010/main" val="1867380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08A13DA-C680-C0CE-865E-4E800FD50AD0}"/>
              </a:ext>
            </a:extLst>
          </p:cNvPr>
          <p:cNvSpPr txBox="1"/>
          <p:nvPr/>
        </p:nvSpPr>
        <p:spPr>
          <a:xfrm>
            <a:off x="768096" y="164592"/>
            <a:ext cx="2834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Descripción</a:t>
            </a:r>
            <a:endParaRPr lang="es-BO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BD21899-FBAF-04A9-18BA-7844FB4C0B76}"/>
              </a:ext>
            </a:extLst>
          </p:cNvPr>
          <p:cNvSpPr txBox="1"/>
          <p:nvPr/>
        </p:nvSpPr>
        <p:spPr>
          <a:xfrm>
            <a:off x="1490472" y="1865376"/>
            <a:ext cx="6309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Una empresa de alimentos quiere maximizar el beneficio de su próxima campaña de marketing directo.</a:t>
            </a:r>
          </a:p>
          <a:p>
            <a:endParaRPr lang="es-BO" dirty="0"/>
          </a:p>
          <a:p>
            <a:endParaRPr lang="es-B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2,240 clientes en campaña piloto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Costo: 6,720 $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Ingresos: 3,674 $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Beneficio: </a:t>
            </a:r>
            <a:r>
              <a:rPr lang="es-BO" dirty="0">
                <a:solidFill>
                  <a:srgbClr val="C00000"/>
                </a:solidFill>
              </a:rPr>
              <a:t>-3,046 $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Tasa de éxito: 15%</a:t>
            </a:r>
          </a:p>
          <a:p>
            <a:endParaRPr lang="es-B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872DE6-B47F-8A88-C151-CCA8803F5D1B}"/>
              </a:ext>
            </a:extLst>
          </p:cNvPr>
          <p:cNvSpPr txBox="1"/>
          <p:nvPr/>
        </p:nvSpPr>
        <p:spPr>
          <a:xfrm>
            <a:off x="347472" y="6254496"/>
            <a:ext cx="11055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>
                    <a:lumMod val="50000"/>
                  </a:schemeClr>
                </a:solidFill>
              </a:rPr>
              <a:t>Nota: Tasa de éxito: Cantidad de clientes que compraron el producto entre el total de clientes en el piloto</a:t>
            </a:r>
            <a:endParaRPr lang="es-BO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59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5A09F-4FB2-BAE5-E4D7-81EF6FE7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9BF246B-3547-4368-4D08-2018EDF551BE}"/>
              </a:ext>
            </a:extLst>
          </p:cNvPr>
          <p:cNvSpPr txBox="1"/>
          <p:nvPr/>
        </p:nvSpPr>
        <p:spPr>
          <a:xfrm>
            <a:off x="768096" y="164592"/>
            <a:ext cx="2834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Objetivos</a:t>
            </a:r>
            <a:endParaRPr lang="es-BO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10E5BA-CFCB-D2EF-EC58-E94CEFF35AD7}"/>
              </a:ext>
            </a:extLst>
          </p:cNvPr>
          <p:cNvSpPr txBox="1"/>
          <p:nvPr/>
        </p:nvSpPr>
        <p:spPr>
          <a:xfrm>
            <a:off x="1106424" y="1389888"/>
            <a:ext cx="66934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Desarrollar un modelo que prediga el comportamiento del cliente y aplicarlo al resto de la base.</a:t>
            </a:r>
          </a:p>
          <a:p>
            <a:r>
              <a:rPr lang="es-BO" dirty="0"/>
              <a:t>Además: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BO" dirty="0"/>
              <a:t>Maximizar la ganancia de la campaña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BO" dirty="0"/>
              <a:t>Entender características de clientes que compran</a:t>
            </a:r>
          </a:p>
          <a:p>
            <a:r>
              <a:rPr lang="es-BO" dirty="0"/>
              <a:t>Pasos: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BO" dirty="0"/>
              <a:t>Exploración de datos - EDA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BO" dirty="0"/>
              <a:t>Segmentación – </a:t>
            </a:r>
            <a:r>
              <a:rPr lang="es-BO" dirty="0" err="1"/>
              <a:t>Clusterización</a:t>
            </a:r>
            <a:endParaRPr lang="es-BO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BO" dirty="0"/>
              <a:t>Modelo de clasificación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83589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CD9B1-9A55-AE44-CF26-BDB53DE4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480D1C4-054B-C099-9A41-BA0E984040AD}"/>
              </a:ext>
            </a:extLst>
          </p:cNvPr>
          <p:cNvSpPr txBox="1"/>
          <p:nvPr/>
        </p:nvSpPr>
        <p:spPr>
          <a:xfrm>
            <a:off x="768096" y="164592"/>
            <a:ext cx="5806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Exploración de Datos - EDA</a:t>
            </a:r>
            <a:endParaRPr lang="es-BO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21A385-293A-32CF-6C10-08EC217274A8}"/>
              </a:ext>
            </a:extLst>
          </p:cNvPr>
          <p:cNvSpPr txBox="1"/>
          <p:nvPr/>
        </p:nvSpPr>
        <p:spPr>
          <a:xfrm>
            <a:off x="868680" y="1097280"/>
            <a:ext cx="6693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La mayoría de los clientes: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BO" dirty="0"/>
              <a:t>Están casados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BO" dirty="0"/>
              <a:t>Tienen alto nivel educativo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BO" dirty="0"/>
              <a:t>No existe correlación significativa entre estas variables.</a:t>
            </a:r>
          </a:p>
          <a:p>
            <a:endParaRPr lang="es-BO" dirty="0"/>
          </a:p>
        </p:txBody>
      </p:sp>
      <p:pic>
        <p:nvPicPr>
          <p:cNvPr id="5" name="Imagen 4" descr="The image is a bar chart depicting the distribution of individuals across different educational stages, from Basic to PhD, with a total count of 1000 people.&#10;&#10;El contenido generado por IA puede ser incorrecto.">
            <a:extLst>
              <a:ext uri="{FF2B5EF4-FFF2-40B4-BE49-F238E27FC236}">
                <a16:creationId xmlns:a16="http://schemas.microsoft.com/office/drawing/2014/main" id="{C5165E97-7AD3-A583-4627-1EE2E9151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60" y="2882469"/>
            <a:ext cx="3761740" cy="280184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637E7FA-9A02-56C1-0762-DEE9A53C3120}"/>
              </a:ext>
            </a:extLst>
          </p:cNvPr>
          <p:cNvSpPr txBox="1"/>
          <p:nvPr/>
        </p:nvSpPr>
        <p:spPr>
          <a:xfrm>
            <a:off x="4618182" y="2574608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Clientes por nivel educativo</a:t>
            </a:r>
            <a:endParaRPr lang="es-BO" dirty="0"/>
          </a:p>
        </p:txBody>
      </p:sp>
      <p:pic>
        <p:nvPicPr>
          <p:cNvPr id="8" name="Imagen 7" descr="The image displays a bar chart categorizing the distribution of people across different marital statuses, with a significant number married and a few single or widowed.&#10;&#10;El contenido generado por IA puede ser incorrecto.">
            <a:extLst>
              <a:ext uri="{FF2B5EF4-FFF2-40B4-BE49-F238E27FC236}">
                <a16:creationId xmlns:a16="http://schemas.microsoft.com/office/drawing/2014/main" id="{DC568999-3CFF-8FA5-359E-E9564778E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85" y="2943940"/>
            <a:ext cx="3450057" cy="26162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9D0D9D3-EE21-55D4-2969-8DFECA898421}"/>
              </a:ext>
            </a:extLst>
          </p:cNvPr>
          <p:cNvSpPr txBox="1"/>
          <p:nvPr/>
        </p:nvSpPr>
        <p:spPr>
          <a:xfrm>
            <a:off x="856442" y="2574608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Clientes por estado civil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13156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87BC-AABD-E2D6-4C05-029817F4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6E6CFE-E1B2-9092-B60B-66D9BDA702C6}"/>
              </a:ext>
            </a:extLst>
          </p:cNvPr>
          <p:cNvSpPr txBox="1"/>
          <p:nvPr/>
        </p:nvSpPr>
        <p:spPr>
          <a:xfrm>
            <a:off x="768096" y="164592"/>
            <a:ext cx="5806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Correlaciones - EDA</a:t>
            </a:r>
            <a:endParaRPr lang="es-BO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C4FB76-5431-84E9-DC70-35630513795C}"/>
              </a:ext>
            </a:extLst>
          </p:cNvPr>
          <p:cNvSpPr txBox="1"/>
          <p:nvPr/>
        </p:nvSpPr>
        <p:spPr>
          <a:xfrm>
            <a:off x="868680" y="1097280"/>
            <a:ext cx="6693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El ingreso está relacionado con el gasto total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El gasto en vino está vinculado a altos ingresos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Más hijos → menor gasto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Mayor ingreso → mayor aceptación de campañas</a:t>
            </a:r>
          </a:p>
        </p:txBody>
      </p:sp>
      <p:pic>
        <p:nvPicPr>
          <p:cNvPr id="7" name="Imagen 6" descr="The image is a pie chart illustrating the proportion of various product categories (e.g., wine, meat, heat products, regular products) purchased by customers, along with additional metrics like number of kids and catalog purchases.&#10;&#10;El contenido generado por IA puede ser incorrecto.">
            <a:extLst>
              <a:ext uri="{FF2B5EF4-FFF2-40B4-BE49-F238E27FC236}">
                <a16:creationId xmlns:a16="http://schemas.microsoft.com/office/drawing/2014/main" id="{5FB091C8-010B-7A9F-CC15-2CF4042C3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830" y="3161555"/>
            <a:ext cx="6487430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95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02FA-CBFA-31F7-864C-08DDC7E96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046924-CFB1-6992-7562-94AE3CE19EC3}"/>
              </a:ext>
            </a:extLst>
          </p:cNvPr>
          <p:cNvSpPr txBox="1"/>
          <p:nvPr/>
        </p:nvSpPr>
        <p:spPr>
          <a:xfrm>
            <a:off x="768096" y="164592"/>
            <a:ext cx="5806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Segmentación  - </a:t>
            </a:r>
            <a:r>
              <a:rPr lang="es-ES" sz="3200" dirty="0" err="1"/>
              <a:t>Clusterización</a:t>
            </a:r>
            <a:endParaRPr lang="es-BO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A6BC56-CF70-365D-CA56-204B0D31E634}"/>
              </a:ext>
            </a:extLst>
          </p:cNvPr>
          <p:cNvSpPr txBox="1"/>
          <p:nvPr/>
        </p:nvSpPr>
        <p:spPr>
          <a:xfrm>
            <a:off x="905625" y="900081"/>
            <a:ext cx="3564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b="1" dirty="0"/>
              <a:t>Cluster 0 — Bajo ingreso</a:t>
            </a:r>
            <a:endParaRPr lang="es-B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730 clientes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Educación básica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Mayoría con 1 hijo</a:t>
            </a:r>
          </a:p>
        </p:txBody>
      </p:sp>
      <p:pic>
        <p:nvPicPr>
          <p:cNvPr id="5" name="Imagen 4" descr="The diagram shows a comparison of rattom species across different categories, with percentage values indicating some form of distribution or proportion.&#10;&#10;El contenido generado por IA puede ser incorrecto.">
            <a:extLst>
              <a:ext uri="{FF2B5EF4-FFF2-40B4-BE49-F238E27FC236}">
                <a16:creationId xmlns:a16="http://schemas.microsoft.com/office/drawing/2014/main" id="{09C37A96-E238-167E-7C16-2ADC599D0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255" y="3246517"/>
            <a:ext cx="12281491" cy="302214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718EFF2-C370-96D8-B35E-1982AA907014}"/>
              </a:ext>
            </a:extLst>
          </p:cNvPr>
          <p:cNvSpPr txBox="1"/>
          <p:nvPr/>
        </p:nvSpPr>
        <p:spPr>
          <a:xfrm>
            <a:off x="4313382" y="900081"/>
            <a:ext cx="3251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b="1" dirty="0"/>
              <a:t>Cluster 1 — Ingreso medio</a:t>
            </a:r>
            <a:endParaRPr lang="es-B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761 clientes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Mayoría con 1 adolescente</a:t>
            </a:r>
          </a:p>
          <a:p>
            <a:endParaRPr lang="es-B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D2BED42-5787-227B-C22C-54F5178EFDF9}"/>
              </a:ext>
            </a:extLst>
          </p:cNvPr>
          <p:cNvSpPr txBox="1"/>
          <p:nvPr/>
        </p:nvSpPr>
        <p:spPr>
          <a:xfrm>
            <a:off x="7721140" y="861744"/>
            <a:ext cx="44708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b="1" dirty="0"/>
              <a:t>Cluster 2 — Alto ingreso</a:t>
            </a:r>
            <a:endParaRPr lang="es-B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714 clientes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Mayor consumo (especialmente vino)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Mayor aceptación de campañas (especialmente Campaña 5)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Sin hijos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Más compras en tienda, menos en web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912381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0E47-0B25-1F5B-0E97-6FD15CE7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95EF7EE-DCB8-74EE-D6EE-E8D2B819C7F1}"/>
              </a:ext>
            </a:extLst>
          </p:cNvPr>
          <p:cNvSpPr txBox="1"/>
          <p:nvPr/>
        </p:nvSpPr>
        <p:spPr>
          <a:xfrm>
            <a:off x="768096" y="164592"/>
            <a:ext cx="5806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Modelo de Clasificación</a:t>
            </a:r>
            <a:endParaRPr lang="es-BO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152601-F9E3-8A53-9271-98AD5643A0D4}"/>
              </a:ext>
            </a:extLst>
          </p:cNvPr>
          <p:cNvSpPr txBox="1"/>
          <p:nvPr/>
        </p:nvSpPr>
        <p:spPr>
          <a:xfrm>
            <a:off x="905625" y="900081"/>
            <a:ext cx="676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Modelo predictivo para determinar si un cliente aceptará la oferta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718B85-FF66-78CE-BA93-B046BB3E7CDE}"/>
              </a:ext>
            </a:extLst>
          </p:cNvPr>
          <p:cNvSpPr txBox="1"/>
          <p:nvPr/>
        </p:nvSpPr>
        <p:spPr>
          <a:xfrm>
            <a:off x="905625" y="1572491"/>
            <a:ext cx="42303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Precisión del modelo: </a:t>
            </a:r>
            <a:r>
              <a:rPr lang="es-BO" b="1" dirty="0"/>
              <a:t>87%</a:t>
            </a:r>
            <a:endParaRPr lang="es-BO" dirty="0"/>
          </a:p>
          <a:p>
            <a:r>
              <a:rPr lang="es-BO" dirty="0"/>
              <a:t>Factores más importantes: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Recencia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Campañas anteriores (historial)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Antigüedad del cliente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Ingresos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Gasto total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Gasto en vino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Gasto en productos regulares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Gasto en carne</a:t>
            </a:r>
          </a:p>
          <a:p>
            <a:endParaRPr lang="es-BO" dirty="0"/>
          </a:p>
        </p:txBody>
      </p:sp>
      <p:pic>
        <p:nvPicPr>
          <p:cNvPr id="9" name="Imagen 8" descr="The image is a bar chart displaying various metrics, such as recency, customer days, income, and different product categories, each with their respective numerical values.&#10;&#10;El contenido generado por IA puede ser incorrecto.">
            <a:extLst>
              <a:ext uri="{FF2B5EF4-FFF2-40B4-BE49-F238E27FC236}">
                <a16:creationId xmlns:a16="http://schemas.microsoft.com/office/drawing/2014/main" id="{30356A49-AE89-0809-6034-21A01014A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140" y="1201527"/>
            <a:ext cx="2717939" cy="47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0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A6B8-1ACC-8806-6579-4A4A3986F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5DA39A-3644-89DF-ABF9-5AA2111CC081}"/>
              </a:ext>
            </a:extLst>
          </p:cNvPr>
          <p:cNvSpPr txBox="1"/>
          <p:nvPr/>
        </p:nvSpPr>
        <p:spPr>
          <a:xfrm>
            <a:off x="768096" y="164592"/>
            <a:ext cx="5806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Resultados o Conclusiones</a:t>
            </a:r>
            <a:endParaRPr lang="es-BO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9E219F3-22E6-92E9-39F9-577DE219AF04}"/>
              </a:ext>
            </a:extLst>
          </p:cNvPr>
          <p:cNvSpPr txBox="1"/>
          <p:nvPr/>
        </p:nvSpPr>
        <p:spPr>
          <a:xfrm>
            <a:off x="905625" y="900081"/>
            <a:ext cx="676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Responder a tu problema con los objetivos planteados,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6F18BAD-3A50-7B18-4C99-0B711906D63E}"/>
              </a:ext>
            </a:extLst>
          </p:cNvPr>
          <p:cNvSpPr txBox="1"/>
          <p:nvPr/>
        </p:nvSpPr>
        <p:spPr>
          <a:xfrm>
            <a:off x="649963" y="2281012"/>
            <a:ext cx="6309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Una empresa de alimentos quiere maximizar el beneficio de su próxima campaña de marketing directo.</a:t>
            </a:r>
          </a:p>
          <a:p>
            <a:endParaRPr lang="es-BO" dirty="0"/>
          </a:p>
          <a:p>
            <a:endParaRPr lang="es-BO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2,240 clientes en campaña piloto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Costo: 6,720 $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Ingresos: 3,674 $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Beneficio: </a:t>
            </a:r>
            <a:r>
              <a:rPr lang="es-BO" dirty="0">
                <a:solidFill>
                  <a:srgbClr val="C00000"/>
                </a:solidFill>
              </a:rPr>
              <a:t>-3,046 $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BO" dirty="0"/>
              <a:t>Tasa de éxito: 15%</a:t>
            </a:r>
          </a:p>
          <a:p>
            <a:endParaRPr lang="es-B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DBCB055-DF49-75DA-AE43-A60706102C10}"/>
              </a:ext>
            </a:extLst>
          </p:cNvPr>
          <p:cNvSpPr txBox="1"/>
          <p:nvPr/>
        </p:nvSpPr>
        <p:spPr>
          <a:xfrm>
            <a:off x="768096" y="1625600"/>
            <a:ext cx="2917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Detalle del Problema</a:t>
            </a:r>
            <a:endParaRPr lang="es-B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49D945-D7AD-582C-0D6E-42E5DD5F9B71}"/>
              </a:ext>
            </a:extLst>
          </p:cNvPr>
          <p:cNvSpPr txBox="1"/>
          <p:nvPr/>
        </p:nvSpPr>
        <p:spPr>
          <a:xfrm>
            <a:off x="7783114" y="1570243"/>
            <a:ext cx="2917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Solución</a:t>
            </a:r>
            <a:endParaRPr lang="es-B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7BDA950-9D76-D8AD-3030-82B7969FC5A5}"/>
              </a:ext>
            </a:extLst>
          </p:cNvPr>
          <p:cNvSpPr txBox="1"/>
          <p:nvPr/>
        </p:nvSpPr>
        <p:spPr>
          <a:xfrm>
            <a:off x="7666181" y="2077818"/>
            <a:ext cx="40917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Gracias a los modelos de clasificación y agrupamiento se tiene los siguientes resultados: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/>
              <a:t>Enfocarnos en solo el 30%  (700 ) de los clientes con alta probabilidad de compra.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/>
              <a:t>Solo en ese grupo del 30% , se tiene un Beneficio de </a:t>
            </a:r>
            <a:r>
              <a:rPr lang="es-BO" dirty="0">
                <a:solidFill>
                  <a:srgbClr val="00B050"/>
                </a:solidFill>
              </a:rPr>
              <a:t>+2000 $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/>
              <a:t>Tasa de éxito dentro de los clientes con alta probabilidad será del 45%</a:t>
            </a:r>
          </a:p>
        </p:txBody>
      </p:sp>
    </p:spTree>
    <p:extLst>
      <p:ext uri="{BB962C8B-B14F-4D97-AF65-F5344CB8AC3E}">
        <p14:creationId xmlns:p14="http://schemas.microsoft.com/office/powerpoint/2010/main" val="2608320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4693-D635-2A0C-4792-2373E94F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691302-D3EE-39A1-CBBC-DE06F4387AD8}"/>
              </a:ext>
            </a:extLst>
          </p:cNvPr>
          <p:cNvSpPr txBox="1"/>
          <p:nvPr/>
        </p:nvSpPr>
        <p:spPr>
          <a:xfrm>
            <a:off x="768096" y="164592"/>
            <a:ext cx="5806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Entregables del proyecto</a:t>
            </a:r>
            <a:endParaRPr lang="es-BO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72FBA20-FE2F-D920-FF81-D8B74E37D2B4}"/>
              </a:ext>
            </a:extLst>
          </p:cNvPr>
          <p:cNvSpPr txBox="1"/>
          <p:nvPr/>
        </p:nvSpPr>
        <p:spPr>
          <a:xfrm>
            <a:off x="915878" y="1136073"/>
            <a:ext cx="36376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Código desarrollado en </a:t>
            </a:r>
            <a:r>
              <a:rPr lang="es-ES" dirty="0" err="1"/>
              <a:t>github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Segmentación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Modelo de clasificación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/>
              <a:t>Una vez entrenado el modelo debe guardarse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Documentacion</a:t>
            </a:r>
            <a:r>
              <a:rPr lang="es-E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Introducción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Justificación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Problema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Objetivos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Marco teórico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Marco Aplicativo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Resultado y conclusiones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Bibliografía y Anexos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Presentación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20705619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566</Words>
  <Application>Microsoft Office PowerPoint</Application>
  <PresentationFormat>Panorámica</PresentationFormat>
  <Paragraphs>110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Calisto MT</vt:lpstr>
      <vt:lpstr>Univers Condensed</vt:lpstr>
      <vt:lpstr>ChronicleVTI</vt:lpstr>
      <vt:lpstr>Análisis ifood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Laurel</dc:creator>
  <cp:lastModifiedBy>Enrique Laurel</cp:lastModifiedBy>
  <cp:revision>1</cp:revision>
  <dcterms:created xsi:type="dcterms:W3CDTF">2026-05-28T17:40:32Z</dcterms:created>
  <dcterms:modified xsi:type="dcterms:W3CDTF">2026-05-28T19:50:34Z</dcterms:modified>
</cp:coreProperties>
</file>